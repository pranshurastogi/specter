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over-SPECTER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4389120" y="0"/>
            <a:ext cx="47548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7B2FBE"/>
          </a:solidFill>
          <a:ln/>
        </p:spPr>
      </p:sp>
      <p:pic>
        <p:nvPicPr>
          <p:cNvPr id="5" name="Image 1" descr="/home/claude/SPECTER-logo-with-tag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2286000" cy="2286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8600" y="23774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SPECTER</a:t>
            </a:r>
            <a:endParaRPr lang="en-US" sz="4200" dirty="0"/>
          </a:p>
        </p:txBody>
      </p:sp>
      <p:sp>
        <p:nvSpPr>
          <p:cNvPr id="7" name="Text 3"/>
          <p:cNvSpPr/>
          <p:nvPr/>
        </p:nvSpPr>
        <p:spPr>
          <a:xfrm>
            <a:off x="22860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Post-Quantum Stealth Address Protocol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228600" y="3538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payments for a quantum-proof future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228600" y="3977640"/>
            <a:ext cx="1554480" cy="246888"/>
          </a:xfrm>
          <a:prstGeom prst="rect">
            <a:avLst>
              <a:gd name="adj" fmla="val 14815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74320" y="39959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FIPS 203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1920240" y="3977640"/>
            <a:ext cx="1554480" cy="246888"/>
          </a:xfrm>
          <a:prstGeom prst="rect">
            <a:avLst>
              <a:gd name="adj" fmla="val 14815"/>
            </a:avLst>
          </a:prstGeom>
          <a:solidFill>
            <a:srgbClr val="0099BB"/>
          </a:solidFill>
          <a:ln w="12700">
            <a:solidFill>
              <a:srgbClr val="0099B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965960" y="39959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ERC-5564 Compatible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611880" y="3977640"/>
            <a:ext cx="1554480" cy="246888"/>
          </a:xfrm>
          <a:prstGeom prst="rect">
            <a:avLst>
              <a:gd name="adj" fmla="val 14815"/>
            </a:avLst>
          </a:prstGeom>
          <a:solidFill>
            <a:srgbClr val="1E4D2B"/>
          </a:solidFill>
          <a:ln w="12700">
            <a:solidFill>
              <a:srgbClr val="1E4D2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657600" y="39959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Multi-Chain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286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github.com/pranshurastogi/SPECTER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5603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Ethereum's privacy crisis has two dimensions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411480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54864" cy="3566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2984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TODAY: ZERO PRIVACY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1737360"/>
            <a:ext cx="3703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is publicly visible on-chain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to a known address permanently links sender ↔ recipient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 &amp; Railgun use classical secp256k1 — already at theoretical risk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$300M+ processed by Umbra, all on public infrastructure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0" y="1143000"/>
            <a:ext cx="434340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1143000"/>
            <a:ext cx="54864" cy="356616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12984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TOMORROW: QUANTUM THREAT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800600" y="173736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Shor's algorithm breaks secp256k1 — every existing privacy protocol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chance of cryptographically-relevant quantum computers by 2030 (Metaculus)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Foundation declared post-quantum resistance a TOP priority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"Resist saying 'let's delay quantum-resistance to the last moment'" — Vitalik, Dec 2025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solidFill>
            <a:srgbClr val="111827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20040" y="477316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existing protocols address BOTH problems simultaneously.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5603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SPECTER: The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protocol. Two threats eliminated.</a:t>
            </a:r>
            <a:endParaRPr lang="en-US" sz="1300" dirty="0"/>
          </a:p>
        </p:txBody>
      </p:sp>
      <p:pic>
        <p:nvPicPr>
          <p:cNvPr id="5" name="Image 0" descr="/home/claude/SPECT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005840"/>
            <a:ext cx="1645920" cy="1645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1097280"/>
            <a:ext cx="278892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28600" y="1097280"/>
            <a:ext cx="54864" cy="2926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1261872"/>
            <a:ext cx="502920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1289304"/>
            <a:ext cx="429768" cy="4297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12618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Post-Quantum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Cryptography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11480" y="1901952"/>
            <a:ext cx="2514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ML-KEM-768 (NIST FIPS 203) — the official post-quantum key encapsulation standard. NIST Level 3: 128-bit quantum, 192-bit classical security.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172968" y="1097280"/>
            <a:ext cx="278892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172968" y="1097280"/>
            <a:ext cx="54864" cy="292608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310128" y="1261872"/>
            <a:ext cx="502920" cy="5029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704" y="1289304"/>
            <a:ext cx="429768" cy="4297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04488" y="12618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On-Chain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355848" y="1901952"/>
            <a:ext cx="2514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 goes to a unique one-time stealth address. Observers cannot link payments to recipients. ERC-5564 compatible as schemeId 2.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117336" y="1097280"/>
            <a:ext cx="278892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117336" y="1097280"/>
            <a:ext cx="54864" cy="29260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254496" y="1261872"/>
            <a:ext cx="50292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289304"/>
            <a:ext cx="429768" cy="4297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48856" y="12618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Multi-Chain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300216" y="1901952"/>
            <a:ext cx="2514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+ L2s (Arbitrum, Base, Optimism) + Solana. Rust codebase compiles to WASM for browser wallets. First PQ protocol on Solana.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228600" y="4160520"/>
            <a:ext cx="192024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320040" y="4251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99.6%</a:t>
            </a:r>
            <a:endParaRPr lang="en-US" sz="2800" dirty="0"/>
          </a:p>
        </p:txBody>
      </p:sp>
      <p:sp>
        <p:nvSpPr>
          <p:cNvPr id="26" name="Text 20"/>
          <p:cNvSpPr/>
          <p:nvPr/>
        </p:nvSpPr>
        <p:spPr>
          <a:xfrm>
            <a:off x="320040" y="4754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Efficiency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2441448" y="4160520"/>
            <a:ext cx="192024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2532888" y="4251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~430KB</a:t>
            </a:r>
            <a:endParaRPr lang="en-US" sz="2800" dirty="0"/>
          </a:p>
        </p:txBody>
      </p:sp>
      <p:sp>
        <p:nvSpPr>
          <p:cNvPr id="29" name="Text 23"/>
          <p:cNvSpPr/>
          <p:nvPr/>
        </p:nvSpPr>
        <p:spPr>
          <a:xfrm>
            <a:off x="2532888" y="4754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Codebase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654296" y="4160520"/>
            <a:ext cx="192024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4745736" y="4251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800" dirty="0"/>
          </a:p>
        </p:txBody>
      </p:sp>
      <p:sp>
        <p:nvSpPr>
          <p:cNvPr id="32" name="Text 26"/>
          <p:cNvSpPr/>
          <p:nvPr/>
        </p:nvSpPr>
        <p:spPr>
          <a:xfrm>
            <a:off x="4745736" y="4754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Crates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6867144" y="4160520"/>
            <a:ext cx="192024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4" name="Text 28"/>
          <p:cNvSpPr/>
          <p:nvPr/>
        </p:nvSpPr>
        <p:spPr>
          <a:xfrm>
            <a:off x="6958584" y="4251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FIPS 203</a:t>
            </a:r>
            <a:endParaRPr lang="en-US" sz="2800" dirty="0"/>
          </a:p>
        </p:txBody>
      </p:sp>
      <p:sp>
        <p:nvSpPr>
          <p:cNvPr id="35" name="Text 29"/>
          <p:cNvSpPr/>
          <p:nvPr/>
        </p:nvSpPr>
        <p:spPr>
          <a:xfrm>
            <a:off x="6958584" y="4754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Standard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5603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SPECTER Works — Phase 1: Setup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registration. Zero recurring overhead.</a:t>
            </a:r>
            <a:endParaRPr lang="en-US" sz="1300" dirty="0"/>
          </a:p>
        </p:txBody>
      </p:sp>
      <p:pic>
        <p:nvPicPr>
          <p:cNvPr id="5" name="Image 0" descr="/home/claude/set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51560"/>
            <a:ext cx="87782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5603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SPECTER Works — Phase 2: Send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derives a one-time stealth address — recipient never exposed.</a:t>
            </a:r>
            <a:endParaRPr lang="en-US" sz="1300" dirty="0"/>
          </a:p>
        </p:txBody>
      </p:sp>
      <p:pic>
        <p:nvPicPr>
          <p:cNvPr id="5" name="Image 0" descr="/home/claude/s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51560"/>
            <a:ext cx="87782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5603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SPECTER Works — Phase 3: Receive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tags eliminate 99.6% of work before any decryption.</a:t>
            </a:r>
            <a:endParaRPr lang="en-US" sz="1300" dirty="0"/>
          </a:p>
        </p:txBody>
      </p:sp>
      <p:pic>
        <p:nvPicPr>
          <p:cNvPr id="5" name="Image 0" descr="/home/claude/rece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51560"/>
            <a:ext cx="87782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5603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ML-KEM-768: NIST-Standardized Post-Quantum Crypto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FIPS 203 — the only approved key encapsulation standard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420624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PARAMETERS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572768"/>
          <a:ext cx="4023360" cy="256032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14630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1,184 bytes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Encapsulation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2,400 bytes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Decapsulation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Ciphertext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1,088 bytes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announcement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Secret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bytes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 derivation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1188720"/>
            <a:ext cx="201168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63440" y="1188720"/>
            <a:ext cx="2011680" cy="640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0" y="1325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2F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NIST Level 3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754880" y="1828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Level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858000" y="1188720"/>
            <a:ext cx="201168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858000" y="1188720"/>
            <a:ext cx="2011680" cy="640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1325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192-bit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949440" y="1828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Security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63440" y="2606040"/>
            <a:ext cx="201168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2606040"/>
            <a:ext cx="201168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0" y="2743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128-bit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754880" y="3246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Security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858000" y="2606040"/>
            <a:ext cx="2011680" cy="1188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0" y="2606040"/>
            <a:ext cx="2011680" cy="6400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49440" y="2743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FIPS 203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949440" y="3246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Aug 2024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28600" y="4434840"/>
            <a:ext cx="868680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526280"/>
            <a:ext cx="201168" cy="20116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58368" y="45171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Zeroize on drop</a:t>
            </a:r>
            <a:endParaRPr lang="en-US" sz="11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752" y="4526280"/>
            <a:ext cx="201168" cy="20116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2834640" y="45171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Constant-time comparisons</a:t>
            </a:r>
            <a:endParaRPr lang="en-US" sz="11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024" y="4526280"/>
            <a:ext cx="201168" cy="20116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010912" y="45171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unsafe code</a:t>
            </a:r>
            <a:endParaRPr lang="en-US" sz="11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296" y="4526280"/>
            <a:ext cx="201168" cy="20116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187184" y="45171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Domain-separated hashes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5603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Performance Benchmarks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actual hardware — not estimates</a:t>
            </a:r>
            <a:endParaRPr lang="en-US" sz="1300" dirty="0"/>
          </a:p>
        </p:txBody>
      </p:sp>
      <p:pic>
        <p:nvPicPr>
          <p:cNvPr id="5" name="Image 0" descr="/home/claude/benchmar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97280"/>
            <a:ext cx="530352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60720" y="1143000"/>
            <a:ext cx="16002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143000"/>
            <a:ext cx="16002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2527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µs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806440" y="17373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Generation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452360" y="1143000"/>
            <a:ext cx="16002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452360" y="1143000"/>
            <a:ext cx="1600200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125272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2F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µs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498080" y="17373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760720" y="2404872"/>
            <a:ext cx="16002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760720" y="2404872"/>
            <a:ext cx="1600200" cy="54864"/>
          </a:xfrm>
          <a:prstGeom prst="rect">
            <a:avLst/>
          </a:prstGeom>
          <a:solidFill>
            <a:srgbClr val="9B59D0"/>
          </a:solidFill>
          <a:ln w="12700">
            <a:solidFill>
              <a:srgbClr val="9B59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2514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B59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9.5 µs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806440" y="299923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Decapsulation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452360" y="2404872"/>
            <a:ext cx="16002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452360" y="2404872"/>
            <a:ext cx="16002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98080" y="2514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306 ns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498080" y="299923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Tag Compute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760720" y="3666744"/>
            <a:ext cx="16002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760720" y="3666744"/>
            <a:ext cx="160020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377647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44 µs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806440" y="426110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Stealth Address Derive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452360" y="3666744"/>
            <a:ext cx="1600200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452360" y="3666744"/>
            <a:ext cx="1600200" cy="54864"/>
          </a:xfrm>
          <a:prstGeom prst="rect">
            <a:avLst/>
          </a:prstGeom>
          <a:solidFill>
            <a:srgbClr val="0099BB"/>
          </a:solidFill>
          <a:ln w="12700">
            <a:solidFill>
              <a:srgbClr val="0099B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498080" y="377647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99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~1.5 s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7498080" y="426110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100k Announcements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7B2FB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5C842">
              <a:alpha val="7000"/>
            </a:srgbClr>
          </a:solidFill>
          <a:ln/>
        </p:spPr>
      </p:sp>
      <p:pic>
        <p:nvPicPr>
          <p:cNvPr id="5" name="Image 0" descr="/home/claude/SPECTER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005840"/>
            <a:ext cx="2560320" cy="2560320"/>
          </a:xfrm>
          <a:prstGeom prst="rect">
            <a:avLst/>
          </a:prstGeom>
        </p:spPr>
      </p:pic>
      <p:pic>
        <p:nvPicPr>
          <p:cNvPr id="6" name="Image 1" descr="/home/claude/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005840"/>
            <a:ext cx="2560320" cy="256032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103120"/>
            <a:ext cx="731520" cy="7315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57200" y="3703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SPECTER × Yellow Network</a:t>
            </a:r>
            <a:endParaRPr lang="en-US" sz="2800" dirty="0"/>
          </a:p>
        </p:txBody>
      </p:sp>
      <p:sp>
        <p:nvSpPr>
          <p:cNvPr id="9" name="Text 4"/>
          <p:cNvSpPr/>
          <p:nvPr/>
        </p:nvSpPr>
        <p:spPr>
          <a:xfrm>
            <a:off x="457200" y="43159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State Channel Trading — Post-Quantum Protected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Yellow Network: Off-Chain State Channel Trading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ClearPort protocol — peer-to-peer state channels at scale</a:t>
            </a:r>
            <a:endParaRPr lang="en-US" sz="1300" dirty="0"/>
          </a:p>
        </p:txBody>
      </p:sp>
      <p:pic>
        <p:nvPicPr>
          <p:cNvPr id="5" name="Image 0" descr="/home/claude/ye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05840"/>
            <a:ext cx="1188720" cy="1188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1143000"/>
            <a:ext cx="420624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28600" y="1143000"/>
            <a:ext cx="54864" cy="356616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261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YELLOW WORKS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627632"/>
            <a:ext cx="3840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lock collateral in on-chain state channels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execute OFF-CHAIN via signed state updates — zero gas per trade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channel open &amp; final settlement touch the blockchain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EIP-712 signed session keys for authentication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finality ideal for high-frequency trading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1143000"/>
            <a:ext cx="420624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1143000"/>
            <a:ext cx="54864" cy="3566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37760" y="1261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PRIVACY GAP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37760" y="1627632"/>
            <a:ext cx="38404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ENDPOINTS (addresses) are visible on-chain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 channel reveals: WHO is trading with WHOM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transactions permanently link all parties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traders cannot expose strategy — alpha = money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quantum resistance in current state channel design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28600" y="4773168"/>
            <a:ext cx="8686800" cy="256032"/>
          </a:xfrm>
          <a:prstGeom prst="rect">
            <a:avLst/>
          </a:prstGeom>
          <a:solidFill>
            <a:srgbClr val="111827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479145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SPECTER adds a quantum-safe stealth privacy layer to Yellow — solving both gaps at once.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5603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SPECTER × Yellow: Full Integration 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Stealth addresses as anonymous, quantum-safe channel endpoints</a:t>
            </a:r>
            <a:endParaRPr lang="en-US" sz="1300" dirty="0"/>
          </a:p>
        </p:txBody>
      </p:sp>
      <p:pic>
        <p:nvPicPr>
          <p:cNvPr id="5" name="Image 0" descr="/home/claude/ye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51560"/>
            <a:ext cx="384048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51960" y="1115568"/>
            <a:ext cx="466344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251960" y="1115568"/>
            <a:ext cx="54864" cy="8686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315968" y="1234440"/>
            <a:ext cx="384048" cy="3840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15968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773168" y="120700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CHANNEL CREATION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73168" y="1453896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resolves bob.eth via ENS → fetches ML-KEM-768 meta-address. Creates stealth address, opens Yellow channel (Nitrolite), deposits USDC on Sepolia. Publishes SPECTER announcement.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251960" y="2093976"/>
            <a:ext cx="466344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51960" y="2093976"/>
            <a:ext cx="54864" cy="868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15968" y="2212848"/>
            <a:ext cx="384048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15968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773168" y="218541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773168" y="2432304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scans SPECTER announcements using view tag filter (skips 99.6%). Decapsulates matching announcement → derives stealth key → imports channel.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251960" y="3072384"/>
            <a:ext cx="466344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251960" y="3072384"/>
            <a:ext cx="54864" cy="86868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315968" y="3191256"/>
            <a:ext cx="384048" cy="38404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15968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773168" y="316382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TRADING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773168" y="341071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↔ Bob: off-chain state updates via Yellow (instant, gasless). No on-chain footprint during active trading. Quantum-safe throughout.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251960" y="4050792"/>
            <a:ext cx="466344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251960" y="4050792"/>
            <a:ext cx="54864" cy="86868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15968" y="4169664"/>
            <a:ext cx="384048" cy="38404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315968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773168" y="41422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SETTLEMENT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773168" y="438912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close → ClearNode settles on Sepolia L1. Funds arrive at stealth address. Entire session: unlinkable.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5603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specter-yellow Crate — Technical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Rust implementation · 58 KB · WebSocket + state channel management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41148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15568"/>
            <a:ext cx="54864" cy="6858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" y="1207008"/>
            <a:ext cx="457200" cy="457200"/>
          </a:xfrm>
          <a:prstGeom prst="rect">
            <a:avLst/>
          </a:prstGeom>
          <a:solidFill>
            <a:srgbClr val="F5C842">
              <a:alpha val="30000"/>
            </a:srgbClr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12344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117957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YellowClient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41248" y="14447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client with full auth flow, session management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28600" y="1883664"/>
            <a:ext cx="41148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28600" y="1883664"/>
            <a:ext cx="54864" cy="6858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2608" y="1975104"/>
            <a:ext cx="457200" cy="457200"/>
          </a:xfrm>
          <a:prstGeom prst="rect">
            <a:avLst/>
          </a:prstGeom>
          <a:solidFill>
            <a:srgbClr val="F5C842">
              <a:alpha val="30000"/>
            </a:srgbClr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2002536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41248" y="194767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Keys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41248" y="22128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EIP-712 signed session key creation &amp; verification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28600" y="2651760"/>
            <a:ext cx="41148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28600" y="2651760"/>
            <a:ext cx="54864" cy="6858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92608" y="2743200"/>
            <a:ext cx="457200" cy="457200"/>
          </a:xfrm>
          <a:prstGeom prst="rect">
            <a:avLst/>
          </a:prstGeom>
          <a:solidFill>
            <a:srgbClr val="F5C842">
              <a:alpha val="30000"/>
            </a:srgbClr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2770632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1248" y="271576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Channel Ops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41248" y="29809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fund, resize, close state channels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228600" y="3419856"/>
            <a:ext cx="41148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228600" y="3419856"/>
            <a:ext cx="54864" cy="6858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292608" y="3511296"/>
            <a:ext cx="457200" cy="457200"/>
          </a:xfrm>
          <a:prstGeom prst="rect">
            <a:avLst/>
          </a:prstGeom>
          <a:solidFill>
            <a:srgbClr val="F5C842">
              <a:alpha val="30000"/>
            </a:srgbClr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3538728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41248" y="348386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 Discovery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841248" y="3749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announcements with SPECTER viewing keys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228600" y="4187952"/>
            <a:ext cx="411480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228600" y="4187952"/>
            <a:ext cx="54864" cy="6858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292608" y="4279392"/>
            <a:ext cx="457200" cy="457200"/>
          </a:xfrm>
          <a:prstGeom prst="rect">
            <a:avLst/>
          </a:prstGeom>
          <a:solidFill>
            <a:srgbClr val="F5C842">
              <a:alpha val="30000"/>
            </a:srgbClr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4306824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41248" y="42519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Settlement Logic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841248" y="451713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settlement with private withdrawal addresses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4572000" y="1115568"/>
            <a:ext cx="4343400" cy="3794760"/>
          </a:xfrm>
          <a:prstGeom prst="rect">
            <a:avLst/>
          </a:prstGeom>
          <a:solidFill>
            <a:srgbClr val="060B12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6" name="Text 29"/>
          <p:cNvSpPr/>
          <p:nvPr/>
        </p:nvSpPr>
        <p:spPr>
          <a:xfrm>
            <a:off x="4709160" y="12344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Create a private trading channel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4709160" y="1481328"/>
            <a:ext cx="4069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client = YellowClient::new(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config, address, priv_key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client.authenticate().await?;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Open private channel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ch = client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.create_private_channel(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"bob.eth",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"USDC",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10_000,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).await?;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Discover incoming channels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chs = client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.discover_private_channels(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&amp;wallet,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).await?;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5603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Yellow Network Needs SPECTER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is the missing piece for institutional DeFi adoption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4251960" cy="169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54864" cy="1691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07592"/>
            <a:ext cx="475488" cy="475488"/>
          </a:xfrm>
          <a:prstGeom prst="rect">
            <a:avLst/>
          </a:prstGeom>
          <a:solidFill>
            <a:srgbClr val="00D4FF">
              <a:alpha val="35000"/>
            </a:srgbClr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335024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3075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Institutional Adoption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176479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 funds &amp; market makers cannot expose trading strategies on-chain. SPECTER removes this barrier — making Yellow viable for institutional capital.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81728" y="1143000"/>
            <a:ext cx="4251960" cy="169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81728" y="1143000"/>
            <a:ext cx="54864" cy="16916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18888" y="1307592"/>
            <a:ext cx="475488" cy="475488"/>
          </a:xfrm>
          <a:prstGeom prst="rect">
            <a:avLst/>
          </a:prstGeom>
          <a:solidFill>
            <a:srgbClr val="7B2FBE">
              <a:alpha val="35000"/>
            </a:srgbClr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1335024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13248" y="13075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Counterparty Privacy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864608" y="176479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SPECTER, channel endpoints reveal WHO trades with WHOM. With SPECTER, endpoints are one-time stealth addresses — permanently unlinkable.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28600" y="3017520"/>
            <a:ext cx="4251960" cy="169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28600" y="3017520"/>
            <a:ext cx="54864" cy="169164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65760" y="3182112"/>
            <a:ext cx="475488" cy="475488"/>
          </a:xfrm>
          <a:prstGeom prst="rect">
            <a:avLst/>
          </a:prstGeom>
          <a:solidFill>
            <a:srgbClr val="F5C842">
              <a:alpha val="35000"/>
            </a:srgbClr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3209544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60120" y="31821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Quantum-Safe by Default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11480" y="363931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Yellow scales to institutional volumes, its security must be future-proof. ML-KEM-768 protects all channel participants against quantum adversaries.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681728" y="3017520"/>
            <a:ext cx="4251960" cy="169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81728" y="3017520"/>
            <a:ext cx="54864" cy="1691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818888" y="3182112"/>
            <a:ext cx="475488" cy="475488"/>
          </a:xfrm>
          <a:prstGeom prst="rect">
            <a:avLst/>
          </a:prstGeom>
          <a:solidFill>
            <a:srgbClr val="22C55E">
              <a:alpha val="35000"/>
            </a:srgbClr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3209544"/>
            <a:ext cx="402336" cy="40233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13248" y="31821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Minimal Cost Impact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864608" y="3639312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already cuts gas 99%+ via off-chain trading. SPECTER's stealth overhead applies only at channel open/close — fractions of a cent.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228600" y="4800600"/>
            <a:ext cx="8686800" cy="237744"/>
          </a:xfrm>
          <a:prstGeom prst="rect">
            <a:avLst/>
          </a:prstGeom>
          <a:solidFill>
            <a:srgbClr val="111827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320040" y="481888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post-quantum privacy layer for state channel trading — anywhere.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5603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Landscape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SPECTER is the only post-quantum privacy protocol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143000"/>
          <a:ext cx="8686800" cy="374904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  <a:gridCol w="1463040"/>
                <a:gridCol w="1554480"/>
                <a:gridCol w="1280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Cryptography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Post-Quantum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Multi-Chain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Yellow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Umbra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secp256k1 (ECDH)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ETH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Railgun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zk-SNARKs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Aztec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zk-SNARKs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 L2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secp256k1 (Solana)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Solana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MPC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8EB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SPECTER 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ML-KEM-768 (NIST)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NIST L3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ETH+SOL+L2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Native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28600" y="4956048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protocol is post-quantum. SPECTER is first.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5603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Vitalik's Wishlist — We're Building 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unbuilt features from his Apr/Nov/Dec 2025 roadmap. We're delivering all of them.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2788920" cy="175564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15568"/>
            <a:ext cx="54864" cy="17556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207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Address Per App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" y="1572768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most practical way to remove public links between all activity across different apps." — Vitalik, Apr 2025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App-specific stealth meta-addresses, all from one master seed.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72968" y="1115568"/>
            <a:ext cx="2788920" cy="175564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1115568"/>
            <a:ext cx="54864" cy="175564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207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F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Privacy-Preserving Keystore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572768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keys should be private by default. SPECTER: ML-KEM encrypted keystore contracts with zero-knowledge ownership proofs.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17336" y="1115568"/>
            <a:ext cx="2788920" cy="175564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17336" y="1115568"/>
            <a:ext cx="54864" cy="17556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12070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Proof Aggregation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81928" y="1572768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"Proof aggregation could reduce costs while enhancing privacy." Batch announcements: 95%+ gas reduction at 100 transactions.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3035808"/>
            <a:ext cx="2788920" cy="175564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035808"/>
            <a:ext cx="54864" cy="175564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31272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Quantum-Safe AA Wallet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3192" y="3493008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"Moving to upgradeable wallets makes it easier to swap signature schemes." — Vitalik, Nov 2025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PQ AA wallet using ML-DSA-65 (FIPS 204).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72968" y="3035808"/>
            <a:ext cx="2788920" cy="175564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3035808"/>
            <a:ext cx="54864" cy="1755648"/>
          </a:xfrm>
          <a:prstGeom prst="rect">
            <a:avLst/>
          </a:prstGeom>
          <a:solidFill>
            <a:srgbClr val="0099BB"/>
          </a:solidFill>
          <a:ln w="12700">
            <a:solidFill>
              <a:srgbClr val="0099B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1272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9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Send-to-Self Privacy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3493008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"Send-to-self transfers should be privacy-preserving by default." Relayer-routed stealth self-transfers — zero visible link.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17336" y="3035808"/>
            <a:ext cx="2788920" cy="175564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17336" y="3035808"/>
            <a:ext cx="54864" cy="17556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31272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Quantum Migration Path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81928" y="3493008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"Once you send a tx, your public key is revealed." — Vitalik, Dec 2025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your PQ identity now, before quantum threat materialises.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5603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working Rust codebase to audited mainnet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2057400" cy="6400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1556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 ✅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773936"/>
            <a:ext cx="205740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" y="1874520"/>
            <a:ext cx="18745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ML-KEM-768 crypto core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tags (99.6% efficiency)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 + IPFS integration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Network crate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CLI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41448" y="1115568"/>
            <a:ext cx="2057400" cy="6400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87168" y="111556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Weeks 1–4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41448" y="1773936"/>
            <a:ext cx="205740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51176" y="1874520"/>
            <a:ext cx="18745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announcer + registry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Sepolia testnet live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Address Per App (OAPA)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Send-to-self privacy module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54296" y="1115568"/>
            <a:ext cx="2057400" cy="64008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111556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Weeks 4–8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54296" y="1773936"/>
            <a:ext cx="205740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64024" y="1874520"/>
            <a:ext cx="18745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Quantum-safe AA wallet (ML-DSA-65)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 draft — ERC-5564 schemeId 2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MVP crate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ESP grant application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67144" y="1115568"/>
            <a:ext cx="2057400" cy="64008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12864" y="111556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3–4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Weeks 8–20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67144" y="1773936"/>
            <a:ext cx="2057400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76872" y="1874520"/>
            <a:ext cx="18745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aggregation (95% gas cut)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 (4–6 weeks)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Mainnet: ETH + Solana + Arbitrum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ERC-4337 integration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31136" y="1389888"/>
            <a:ext cx="164592" cy="91440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43984" y="1389888"/>
            <a:ext cx="164592" cy="91440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56832" y="1389888"/>
            <a:ext cx="164592" cy="91440"/>
          </a:xfrm>
          <a:prstGeom prst="rect">
            <a:avLst/>
          </a:prstGeom>
          <a:solidFill>
            <a:srgbClr val="8892A4"/>
          </a:solidFill>
          <a:ln w="12700">
            <a:solidFill>
              <a:srgbClr val="8892A4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25603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Funding Strategy &amp; Traction Goals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" y="8046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Grant-first. Infrastructure-grade, open source.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411480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15568"/>
            <a:ext cx="54864" cy="3291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GRANT TARGETS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Foundation ESP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63240" y="1645920"/>
            <a:ext cx="1097280" cy="237744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16459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 – $200K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Foundation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63240" y="2167128"/>
            <a:ext cx="1097280" cy="237744"/>
          </a:xfrm>
          <a:prstGeom prst="rect">
            <a:avLst/>
          </a:prstGeom>
          <a:solidFill>
            <a:srgbClr val="22C55E">
              <a:alpha val="3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21671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 – $100K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6700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Academic Grants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63240" y="2688336"/>
            <a:ext cx="1097280" cy="237744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26883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 – $100K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1912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Optimism RPGF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63240" y="3209544"/>
            <a:ext cx="1097280" cy="237744"/>
          </a:xfrm>
          <a:prstGeom prst="rect">
            <a:avLst/>
          </a:prstGeom>
          <a:solidFill>
            <a:srgbClr val="9B59D0">
              <a:alpha val="30000"/>
            </a:srgbClr>
          </a:solidFill>
          <a:ln w="12700">
            <a:solidFill>
              <a:srgbClr val="9B59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63240" y="32095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7124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Gitcoin Grants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63240" y="3730752"/>
            <a:ext cx="1097280" cy="237744"/>
          </a:xfrm>
          <a:prstGeom prst="rect">
            <a:avLst/>
          </a:prstGeom>
          <a:solidFill>
            <a:srgbClr val="8892A4">
              <a:alpha val="30000"/>
            </a:srgbClr>
          </a:solidFill>
          <a:ln w="12700">
            <a:solidFill>
              <a:srgbClr val="8892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63240" y="37307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$5K – $50K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1115568"/>
            <a:ext cx="434340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1115568"/>
            <a:ext cx="54864" cy="32918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F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6-MONTH TARGETS</a:t>
            </a:r>
            <a:endParaRPr lang="en-US" sz="12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6592" y="1664208"/>
            <a:ext cx="201168" cy="20116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010912" y="16550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transactions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498080" y="16550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</a:t>
            </a:r>
            <a:endParaRPr lang="en-US" sz="11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139696"/>
            <a:ext cx="201168" cy="201168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010912" y="21305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meta-addresses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7498080" y="21305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</a:t>
            </a:r>
            <a:endParaRPr lang="en-US" sz="110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2615184"/>
            <a:ext cx="201168" cy="20116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010912" y="2606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integrations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7498080" y="26060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endParaRPr lang="en-US" sz="110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3090672"/>
            <a:ext cx="201168" cy="20116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010912" y="3081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deployed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7498080" y="30815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(ETH + SOL + 1 L2)</a:t>
            </a:r>
            <a:endParaRPr lang="en-US" sz="11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3566160"/>
            <a:ext cx="201168" cy="20116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010912" y="35570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 completed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7498080" y="355701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2" y="4041648"/>
            <a:ext cx="201168" cy="20116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5010912" y="40325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 draft submitted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7498080" y="403250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100" dirty="0"/>
          </a:p>
        </p:txBody>
      </p:sp>
      <p:sp>
        <p:nvSpPr>
          <p:cNvPr id="44" name="Shape 36"/>
          <p:cNvSpPr/>
          <p:nvPr/>
        </p:nvSpPr>
        <p:spPr>
          <a:xfrm>
            <a:off x="228600" y="4526280"/>
            <a:ext cx="192024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5" name="Text 37"/>
          <p:cNvSpPr/>
          <p:nvPr/>
        </p:nvSpPr>
        <p:spPr>
          <a:xfrm>
            <a:off x="320040" y="4617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$300M+</a:t>
            </a:r>
            <a:endParaRPr lang="en-US" sz="2800" dirty="0"/>
          </a:p>
        </p:txBody>
      </p:sp>
      <p:sp>
        <p:nvSpPr>
          <p:cNvPr id="46" name="Text 38"/>
          <p:cNvSpPr/>
          <p:nvPr/>
        </p:nvSpPr>
        <p:spPr>
          <a:xfrm>
            <a:off x="320040" y="5120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 TVL Processed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3172968" y="4526280"/>
            <a:ext cx="192024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8" name="Text 40"/>
          <p:cNvSpPr/>
          <p:nvPr/>
        </p:nvSpPr>
        <p:spPr>
          <a:xfrm>
            <a:off x="3264408" y="4617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$83M</a:t>
            </a:r>
            <a:endParaRPr lang="en-US" sz="2800" dirty="0"/>
          </a:p>
        </p:txBody>
      </p:sp>
      <p:sp>
        <p:nvSpPr>
          <p:cNvPr id="49" name="Text 41"/>
          <p:cNvSpPr/>
          <p:nvPr/>
        </p:nvSpPr>
        <p:spPr>
          <a:xfrm>
            <a:off x="3264408" y="5120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Railgun TVL</a:t>
            </a:r>
            <a:endParaRPr lang="en-US" sz="1000" dirty="0"/>
          </a:p>
        </p:txBody>
      </p:sp>
      <p:sp>
        <p:nvSpPr>
          <p:cNvPr id="50" name="Shape 42"/>
          <p:cNvSpPr/>
          <p:nvPr/>
        </p:nvSpPr>
        <p:spPr>
          <a:xfrm>
            <a:off x="6117336" y="4526280"/>
            <a:ext cx="192024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1" name="Text 43"/>
          <p:cNvSpPr/>
          <p:nvPr/>
        </p:nvSpPr>
        <p:spPr>
          <a:xfrm>
            <a:off x="6208776" y="4617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800" dirty="0"/>
          </a:p>
        </p:txBody>
      </p:sp>
      <p:sp>
        <p:nvSpPr>
          <p:cNvPr id="52" name="Text 44"/>
          <p:cNvSpPr/>
          <p:nvPr/>
        </p:nvSpPr>
        <p:spPr>
          <a:xfrm>
            <a:off x="6208776" y="5120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 Competitors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5" name="Image 0" descr="/home/claude/SPECTER-logo-with-tag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274320"/>
            <a:ext cx="274320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063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design, secure by math.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206240"/>
            <a:ext cx="265176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34340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4325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github.com/pranshurastogi/SPECTER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3429000" y="4206240"/>
            <a:ext cx="265176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34340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86200" y="4325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ERC-5564 schemeId 2 (Draft)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6309360" y="4206240"/>
            <a:ext cx="265176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343400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66560" y="4325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ML-KEM-768 · NIST FIPS 203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SPECTER — Post-Quantum Stealth Address Protocol</dc:title>
  <dc:subject>PptxGenJS Presentation</dc:subject>
  <dc:creator>SPECTER Protocol</dc:creator>
  <cp:lastModifiedBy>SPECTER Protocol</cp:lastModifiedBy>
  <cp:revision>1</cp:revision>
  <dcterms:created xsi:type="dcterms:W3CDTF">2026-03-04T10:01:44Z</dcterms:created>
  <dcterms:modified xsi:type="dcterms:W3CDTF">2026-03-04T10:01:44Z</dcterms:modified>
</cp:coreProperties>
</file>